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</c:v>
                </c:pt>
              </c:strCache>
            </c:strRef>
          </c:tx>
          <c:spPr>
            <a:solidFill>
              <a:srgbClr val="1D6FD8"/>
            </a:solidFill>
            <a:ln w="25400" cap="flat">
              <a:solidFill>
                <a:srgbClr val="1D6FD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1D6FD8"/>
              </a:solidFill>
              <a:ln w="9525" cap="flat">
                <a:solidFill>
                  <a:srgbClr val="1D6F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Takes ownership of outcomes end-to-end</c:v>
                  </c:pt>
                  <c:pt idx="1">
                    <c:v>Prioritizes highest-value work clearly</c:v>
                  </c:pt>
                  <c:pt idx="2">
                    <c:v>Makes timely decisions under uncertainty</c:v>
                  </c:pt>
                  <c:pt idx="3">
                    <c:v>Adapts quickly when given feedback</c:v>
                  </c:pt>
                  <c:pt idx="4">
                    <c:v>Proactively seeks feedback to improve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  <c:pt idx="3">
                  <c:v>75</c:v>
                </c:pt>
                <c:pt idx="4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Avg</c:v>
                </c:pt>
              </c:strCache>
            </c:strRef>
          </c:tx>
          <c:spPr>
            <a:solidFill>
              <a:srgbClr val="00897B"/>
            </a:solidFill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Takes ownership of outcomes end-to-end</c:v>
                  </c:pt>
                  <c:pt idx="1">
                    <c:v>Prioritizes highest-value work clearly</c:v>
                  </c:pt>
                  <c:pt idx="2">
                    <c:v>Makes timely decisions under uncertainty</c:v>
                  </c:pt>
                  <c:pt idx="3">
                    <c:v>Adapts quickly when given feedback</c:v>
                  </c:pt>
                  <c:pt idx="4">
                    <c:v>Proactively seeks feedback to improve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87.5</c:v>
                </c:pt>
                <c:pt idx="2">
                  <c:v>56.25</c:v>
                </c:pt>
                <c:pt idx="3">
                  <c:v>93.75</c:v>
                </c:pt>
                <c:pt idx="4">
                  <c:v>56.25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</c:v>
                </c:pt>
              </c:strCache>
            </c:strRef>
          </c:tx>
          <c:spPr>
            <a:solidFill>
              <a:srgbClr val="1D6FD8"/>
            </a:solidFill>
            <a:ln w="25400" cap="flat">
              <a:solidFill>
                <a:srgbClr val="1D6FD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1D6FD8"/>
              </a:solidFill>
              <a:ln w="9525" cap="flat">
                <a:solidFill>
                  <a:srgbClr val="1D6F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Creates a safe space for open dialogue</c:v>
                  </c:pt>
                  <c:pt idx="1">
                    <c:v>Clearly communicates expectations to team</c:v>
                  </c:pt>
                  <c:pt idx="2">
                    <c:v>Coaches team members to grow</c:v>
                  </c:pt>
                  <c:pt idx="3">
                    <c:v>Builds trust through consistent behaviour</c:v>
                  </c:pt>
                  <c:pt idx="4">
                    <c:v>Recognises and celebrates team successes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100</c:v>
                </c:pt>
                <c:pt idx="2">
                  <c:v>75</c:v>
                </c:pt>
                <c:pt idx="3">
                  <c:v>25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Avg</c:v>
                </c:pt>
              </c:strCache>
            </c:strRef>
          </c:tx>
          <c:spPr>
            <a:solidFill>
              <a:srgbClr val="00897B"/>
            </a:solidFill>
            <a:ln w="25400" cap="flat">
              <a:solidFill>
                <a:srgbClr val="00897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4"/>
            <c:spPr>
              <a:solidFill>
                <a:srgbClr val="00897B"/>
              </a:solidFill>
              <a:ln w="9525" cap="flat">
                <a:solidFill>
                  <a:srgbClr val="0089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Creates a safe space for open dialogue</c:v>
                  </c:pt>
                  <c:pt idx="1">
                    <c:v>Clearly communicates expectations to team</c:v>
                  </c:pt>
                  <c:pt idx="2">
                    <c:v>Coaches team members to grow</c:v>
                  </c:pt>
                  <c:pt idx="3">
                    <c:v>Builds trust through consistent behaviour</c:v>
                  </c:pt>
                  <c:pt idx="4">
                    <c:v>Recognises and celebrates team successes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87.5</c:v>
                </c:pt>
                <c:pt idx="2">
                  <c:v>75</c:v>
                </c:pt>
                <c:pt idx="3">
                  <c:v>25</c:v>
                </c:pt>
                <c:pt idx="4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360 diagnostic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423160" y="2514600"/>
            <a:ext cx="914400" cy="914400"/>
          </a:xfrm>
          <a:prstGeom prst="ellipse">
            <a:avLst/>
          </a:prstGeom>
          <a:solidFill>
            <a:srgbClr val="8FB7E5"/>
          </a:solidFill>
          <a:ln w="12700">
            <a:solidFill>
              <a:srgbClr val="8FB7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231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31720" y="109728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0" cy="32004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31920" y="24231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23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971800"/>
            <a:ext cx="594360" cy="0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triangl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1440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65960" y="3794760"/>
            <a:ext cx="530352" cy="-530352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3172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3794760"/>
            <a:ext cx="0" cy="-384048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49040" y="3794760"/>
            <a:ext cx="1097280" cy="109728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794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79392" y="3794760"/>
            <a:ext cx="-530352" cy="-530352"/>
          </a:xfrm>
          <a:prstGeom prst="line">
            <a:avLst/>
          </a:prstGeom>
          <a:noFill/>
          <a:ln w="12700">
            <a:solidFill>
              <a:srgbClr val="2D8C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669280" y="1554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360 diagnostic is a powerful development tool. It brings together feedback from your manager, peers, direct reports and other stakeholders to show how consistently your leadership behaviors are experienced in practice.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2743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perspective tells the full story. The value of a 360 is that it gives you a broader view of your leadership impact: what others see clearly, what may be less visible, and where your own view may differ from the experience of those around you.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41148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micro-behaviors covered in this report reflect observable leadership behaviors relevant to your organization's context. This means the feedback is focused on what people see you do day to day — not on personality, intent or potential. The report is intended to support reflection, coaching and practical development planning.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this report was created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0" y="228600"/>
            <a:ext cx="2286000" cy="457200"/>
          </a:xfrm>
          <a:prstGeom prst="rect">
            <a:avLst>
              <a:gd name="adj" fmla="val 14000"/>
            </a:avLst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228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 not yet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560320" y="914400"/>
            <a:ext cx="0" cy="502920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331720" y="2560320"/>
            <a:ext cx="228600" cy="640080"/>
          </a:xfrm>
          <a:prstGeom prst="rect">
            <a:avLst/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nominated colleagues across manager, peer, direct report and broader stakeholder groups to give a balanced view of your leadership.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assumptions and ways of working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based on feedback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continuous experiments instead of waiting for perfect solutions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external signals to guide decisions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 impact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through on commitments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Remains constructive under pressure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direction and priorities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1280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Facilitates collective momentum across teams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obstacles to 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Summarizes what was said to confirm understanding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Develops others for long-term impact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0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work to vision and strategy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Gives others ownership within boundaries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environment for others to thrive and perform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Stops work that no longer adds value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Engages multiple perspectives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Seeks input from affected stakeholders before moving forward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2B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high standards for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use this report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this report?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18688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it calculated?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63056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you do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insights?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07424" y="1371600"/>
            <a:ext cx="2807208" cy="713232"/>
          </a:xfrm>
          <a:prstGeom prst="roundRect">
            <a:avLst>
              <a:gd name="adj" fmla="val 7692"/>
            </a:avLst>
          </a:prstGeom>
          <a:solidFill>
            <a:srgbClr val="2D6DB5"/>
          </a:solidFill>
          <a:ln w="12700">
            <a:solidFill>
              <a:srgbClr val="2D6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26296" y="1371600"/>
            <a:ext cx="2569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happen with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shows how your colleagues experience your leadership day to day.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based on what they see you do — not on opinions about who you are.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to reflect, plan your development and guide coaching conversations.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colleagues rated how often they see each leadership behavior in practice.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micro-behavior, we average their answers into a single percentage score based on the frequency observed.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scores are better.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through the report and notice the behaviors people see less often.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two or three to work 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them into a personal development plan.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07424" y="2084832"/>
            <a:ext cx="2807208" cy="3566160"/>
          </a:xfrm>
          <a:prstGeom prst="roundRect">
            <a:avLst>
              <a:gd name="adj" fmla="val 1954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2221992"/>
            <a:ext cx="25328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for development purposes only. It will not be used for selection, promotion, performance management or compensation decisions.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will be limited to you and your appropriate HR contact. It will not be shared with your line manager unless you choose to do 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5742432"/>
            <a:ext cx="11640312" cy="8046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5742432"/>
            <a:ext cx="116403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this report to contain insights on how you are experienced — and not a judgement on who you are.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distribution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0" y="292608"/>
            <a:ext cx="1737360" cy="374904"/>
          </a:xfrm>
          <a:prstGeom prst="rect">
            <a:avLst>
              <a:gd name="adj" fmla="val 12195"/>
            </a:avLst>
          </a:prstGeom>
          <a:solidFill>
            <a:srgbClr val="1E56DB"/>
          </a:solidFill>
          <a:ln w="12700">
            <a:solidFill>
              <a:srgbClr val="1E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292608"/>
            <a:ext cx="1737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Micro-behaviors not yet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finalized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1521440" cy="274320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868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0" y="822960"/>
            <a:ext cx="6400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Rarely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0" y="822960"/>
            <a:ext cx="640080" cy="274320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Sometimes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961120" y="822960"/>
            <a:ext cx="640080" cy="274320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Often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692640" y="822960"/>
            <a:ext cx="6400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89611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" y="1316736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1155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0" y="1152144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152144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152144"/>
            <a:ext cx="868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097280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29600" y="1097280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961120" y="1097280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692640" y="1097280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11338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1316736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1536192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3350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 clearly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0" y="1371600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1371600"/>
            <a:ext cx="173736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1316736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1316736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961120" y="1316736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92640" y="1316736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135331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1755648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1554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 under uncertainty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40480" y="1591056"/>
            <a:ext cx="260604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46520" y="1591056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1536192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29600" y="1536192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961120" y="1536192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692640" y="1536192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92640" y="15727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1755648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1975104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17739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quickly when given feedback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40480" y="1810512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1810512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0" y="1755648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229600" y="1755648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2960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961120" y="1755648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6112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9692640" y="1755648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92640" y="179222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57200" y="2194560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1993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840480" y="2029968"/>
            <a:ext cx="260604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46520" y="2029968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98080" y="1975104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9808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229600" y="1975104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2960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961120" y="1975104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96112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9692640" y="1975104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92640" y="20116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2194560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7200" y="2414016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2212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safe space for open dialogue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840480" y="2249424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0" y="2249424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46520" y="2249424"/>
            <a:ext cx="868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98080" y="2194560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9808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229600" y="2194560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2960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961120" y="2194560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6112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692640" y="2194560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92640" y="223113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57200" y="2633472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8640" y="24323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communicates expectations to team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840480" y="2468880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09160" y="2468880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498080" y="2414016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9808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8229600" y="2414016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2960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961120" y="2414016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6112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92640" y="2414016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692640" y="24505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57200" y="2633472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57200" y="2852928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8640" y="2651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Coaches team members to grow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840480" y="2688336"/>
            <a:ext cx="868680" cy="10972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709160" y="2688336"/>
            <a:ext cx="173736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46520" y="2688336"/>
            <a:ext cx="8686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98080" y="2633472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9808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8229600" y="2633472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2960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8961120" y="2633472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96112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9692640" y="2633472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692640" y="26700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57200" y="3072384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8640" y="28712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trust through consistent behaviour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840480" y="2907792"/>
            <a:ext cx="3474720" cy="1097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98080" y="2852928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49808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229600" y="2852928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22960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8961120" y="2852928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6112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692640" y="2852928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692640" y="288950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457200" y="3072384"/>
            <a:ext cx="11521440" cy="219456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7200" y="3291840"/>
            <a:ext cx="11521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48640" y="3090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Recognises and celebrates team successes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3840480" y="3127248"/>
            <a:ext cx="868680" cy="1097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09160" y="3127248"/>
            <a:ext cx="868680" cy="109728"/>
          </a:xfrm>
          <a:prstGeom prst="rect">
            <a:avLst/>
          </a:prstGeom>
          <a:solidFill>
            <a:srgbClr val="BFA589"/>
          </a:solidFill>
          <a:ln w="12700">
            <a:solidFill>
              <a:srgbClr val="BFA58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840" y="3127248"/>
            <a:ext cx="173736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498080" y="3072384"/>
            <a:ext cx="640080" cy="219456"/>
          </a:xfrm>
          <a:prstGeom prst="rect">
            <a:avLst/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49808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8229600" y="3072384"/>
            <a:ext cx="640080" cy="219456"/>
          </a:xfrm>
          <a:prstGeom prst="rect">
            <a:avLst/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22960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8961120" y="3072384"/>
            <a:ext cx="640080" cy="219456"/>
          </a:xfrm>
          <a:prstGeom prst="rect">
            <a:avLst/>
          </a:prstGeom>
          <a:solidFill>
            <a:srgbClr val="F5EFE7"/>
          </a:solidFill>
          <a:ln w="12700">
            <a:solidFill>
              <a:srgbClr val="F5EFE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96112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9692640" y="3072384"/>
            <a:ext cx="640080" cy="219456"/>
          </a:xfrm>
          <a:prstGeom prst="rect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692640" y="310896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9509760" y="6263640"/>
            <a:ext cx="2468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509760" y="6263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AA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 NAME &amp; DATE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45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Insufficient Exposures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" y="749808"/>
            <a:ext cx="6492240" cy="27432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1381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794760" y="813816"/>
            <a:ext cx="2194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Insufficient Exposure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" y="1271016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051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3840480" y="105156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" y="1536192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3167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 clearly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840480" y="131673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" y="1801368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581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 under uncertainty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3840480" y="158191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2066544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18470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quickly when given feedback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840480" y="184708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2331720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1122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3840480" y="211226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7160" y="2596896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23774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safe space for open dialogue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840480" y="237744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862072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642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communicates expectations to team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840480" y="264261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" y="3127248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" y="29077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Coaches team members to grow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3840480" y="290779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3392424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3172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trust through consistent behaviour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840480" y="317296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160" y="3657600"/>
            <a:ext cx="6492240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3438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Recognises and celebrates team successes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3840480" y="34381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3611880"/>
            <a:ext cx="3977640" cy="274320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367588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3886200"/>
            <a:ext cx="3977640" cy="242316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4005072"/>
            <a:ext cx="3611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Insufficient Exposure is what a rater selects when they feel they have not seen sufficient evidence from you on this behavior to provide a rating. These answers are set aside and they do not lower your score.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high count can itself be a signal as it can mean a behavior is not be visible to the people around you, even if you feel you are demonstrating it.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have areas with high insufficient exposure, we recommend you consider why you are receiving this feedback and what you could do to address this.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Benchmarking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5669280" cy="320040"/>
          </a:xfrm>
          <a:prstGeom prst="rect">
            <a:avLst/>
          </a:prstGeom>
          <a:solidFill>
            <a:srgbClr val="1C2B4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Self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669280" cy="4434840"/>
          </a:xfrm>
          <a:prstGeom prst="rect">
            <a:avLst/>
          </a:prstGeom>
          <a:solidFill>
            <a:srgbClr val="F7F9FB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411480" y="123444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822960"/>
            <a:ext cx="5669280" cy="320040"/>
          </a:xfrm>
          <a:prstGeom prst="rect">
            <a:avLst/>
          </a:prstGeom>
          <a:solidFill>
            <a:srgbClr val="1C2B4B"/>
          </a:solidFill>
          <a:ln/>
        </p:spPr>
      </p:sp>
      <p:sp>
        <p:nvSpPr>
          <p:cNvPr id="8" name="Text 5"/>
          <p:cNvSpPr/>
          <p:nvPr/>
        </p:nvSpPr>
        <p:spPr>
          <a:xfrm>
            <a:off x="6291072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Others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143000"/>
            <a:ext cx="5669280" cy="4434840"/>
          </a:xfrm>
          <a:prstGeom prst="rect">
            <a:avLst/>
          </a:prstGeom>
          <a:solidFill>
            <a:srgbClr val="F7F9FB"/>
          </a:solidFill>
          <a:ln/>
        </p:spPr>
      </p:sp>
      <p:graphicFrame>
        <p:nvGraphicFramePr>
          <p:cNvPr id="10" name="Chart 1" descr=""/>
          <p:cNvGraphicFramePr/>
          <p:nvPr/>
        </p:nvGraphicFramePr>
        <p:xfrm>
          <a:off x="6309360" y="123444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114800" y="58521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Legend: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937760" y="5943600"/>
            <a:ext cx="228600" cy="0"/>
          </a:xfrm>
          <a:prstGeom prst="line">
            <a:avLst/>
          </a:prstGeom>
          <a:noFill/>
          <a:ln w="12700">
            <a:solidFill>
              <a:srgbClr val="1D6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12080" y="58521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7920" y="5943600"/>
            <a:ext cx="228600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0" y="5852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Average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1111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 / other detail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754880" y="228600"/>
            <a:ext cx="137160" cy="137160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0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Colleagues see more often (&gt; +10%)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6858000" y="228600"/>
            <a:ext cx="137160" cy="13716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Broadly aligned (-10-10%)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8961120" y="228600"/>
            <a:ext cx="137160" cy="137160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182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Colleagues see less often (&lt; -10%)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0" y="594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Shown as the difference from your self-rating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 Rating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Peers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Reports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06640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0" y="1024128"/>
            <a:ext cx="12192000" cy="2286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ownership of outcomes end-to-end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26080" y="1435608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1435608"/>
            <a:ext cx="64008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1408176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1453896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32588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715000" y="1453896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32588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29400" y="1453896"/>
            <a:ext cx="18288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32588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-50%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47472" y="1700784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1709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Prioritizes highest-value work clearly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26080" y="1819656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0" y="1819656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1792224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00600" y="1837944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17099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806440" y="1837944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17099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12280" y="1837944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70992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7472" y="2084832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0939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timely decisions under uncertainty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26080" y="2203704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41" name="Shape 39"/>
          <p:cNvSpPr/>
          <p:nvPr/>
        </p:nvSpPr>
        <p:spPr>
          <a:xfrm>
            <a:off x="2926080" y="2203704"/>
            <a:ext cx="32004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2" name="Text 40"/>
          <p:cNvSpPr/>
          <p:nvPr/>
        </p:nvSpPr>
        <p:spPr>
          <a:xfrm>
            <a:off x="3611880" y="2176272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00600" y="2221992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209397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806440" y="2221992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0" y="209397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12280" y="2221992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09397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" y="2468880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247802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Adapts quickly when given feedback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26080" y="2587752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2" name="Shape 50"/>
          <p:cNvSpPr/>
          <p:nvPr/>
        </p:nvSpPr>
        <p:spPr>
          <a:xfrm>
            <a:off x="2926080" y="2587752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3" name="Text 51"/>
          <p:cNvSpPr/>
          <p:nvPr/>
        </p:nvSpPr>
        <p:spPr>
          <a:xfrm>
            <a:off x="3611880" y="256032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800600" y="2606040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247802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806440" y="2606040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247802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812280" y="2606040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247802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47472" y="2852928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28620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Proactively seeks feedback to improve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926080" y="2971800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63" name="Shape 61"/>
          <p:cNvSpPr/>
          <p:nvPr/>
        </p:nvSpPr>
        <p:spPr>
          <a:xfrm>
            <a:off x="2926080" y="2971800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4" name="Text 62"/>
          <p:cNvSpPr/>
          <p:nvPr/>
        </p:nvSpPr>
        <p:spPr>
          <a:xfrm>
            <a:off x="3611880" y="2944368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709160" y="299008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286207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715000" y="299008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94960" y="286207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720840" y="299008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0" y="286207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47472" y="3236976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safe space for open dialogue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926080" y="3355848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74" name="Shape 72"/>
          <p:cNvSpPr/>
          <p:nvPr/>
        </p:nvSpPr>
        <p:spPr>
          <a:xfrm>
            <a:off x="2926080" y="3355848"/>
            <a:ext cx="32004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5" name="Text 73"/>
          <p:cNvSpPr/>
          <p:nvPr/>
        </p:nvSpPr>
        <p:spPr>
          <a:xfrm>
            <a:off x="3611880" y="3328416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800600" y="3374136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0" y="32461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5806440" y="3374136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394960" y="32461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812280" y="3374136"/>
            <a:ext cx="18288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0" y="324612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+50%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47472" y="3621024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3630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communicates expectations to team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926080" y="3739896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85" name="Shape 83"/>
          <p:cNvSpPr/>
          <p:nvPr/>
        </p:nvSpPr>
        <p:spPr>
          <a:xfrm>
            <a:off x="2926080" y="3739896"/>
            <a:ext cx="64008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6" name="Text 84"/>
          <p:cNvSpPr/>
          <p:nvPr/>
        </p:nvSpPr>
        <p:spPr>
          <a:xfrm>
            <a:off x="3611880" y="3712464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800600" y="3758184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363016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806440" y="3758184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94960" y="363016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629400" y="3758184"/>
            <a:ext cx="18288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00800" y="3630168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-50%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347472" y="4005072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7472" y="40142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Coaches team members to grow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926080" y="4123944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96" name="Shape 94"/>
          <p:cNvSpPr/>
          <p:nvPr/>
        </p:nvSpPr>
        <p:spPr>
          <a:xfrm>
            <a:off x="2926080" y="4123944"/>
            <a:ext cx="48006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7" name="Text 95"/>
          <p:cNvSpPr/>
          <p:nvPr/>
        </p:nvSpPr>
        <p:spPr>
          <a:xfrm>
            <a:off x="3611880" y="4096512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00600" y="4142232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89120" y="401421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5715000" y="4142232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94960" y="401421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812280" y="4142232"/>
            <a:ext cx="91440" cy="64008"/>
          </a:xfrm>
          <a:prstGeom prst="rect">
            <a:avLst/>
          </a:prstGeom>
          <a:solidFill>
            <a:srgbClr val="1D2951"/>
          </a:solidFill>
          <a:ln w="12700">
            <a:solidFill>
              <a:srgbClr val="1D295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400800" y="4014216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47472" y="4389120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47472" y="43982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trust through consistent behaviour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926080" y="4507992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926080" y="4507992"/>
            <a:ext cx="16002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8" name="Text 106"/>
          <p:cNvSpPr/>
          <p:nvPr/>
        </p:nvSpPr>
        <p:spPr>
          <a:xfrm>
            <a:off x="3611880" y="448056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800600" y="4526280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89120" y="439826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806440" y="4526280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394960" y="439826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6812280" y="4526280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00800" y="4398264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347472" y="4773168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47472" y="4782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Recognises and celebrates team successes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926080" y="4892040"/>
            <a:ext cx="640080" cy="9144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926080" y="4892040"/>
            <a:ext cx="640080" cy="914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19" name="Text 117"/>
          <p:cNvSpPr/>
          <p:nvPr/>
        </p:nvSpPr>
        <p:spPr>
          <a:xfrm>
            <a:off x="3611880" y="4864608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526280" y="4910328"/>
            <a:ext cx="27432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389120" y="4782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-75%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5806440" y="4910328"/>
            <a:ext cx="0" cy="6400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394960" y="4782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720840" y="4910328"/>
            <a:ext cx="91440" cy="64008"/>
          </a:xfrm>
          <a:prstGeom prst="rect">
            <a:avLst/>
          </a:prstGeom>
          <a:solidFill>
            <a:srgbClr val="1D6FD8"/>
          </a:solidFill>
          <a:ln w="12700">
            <a:solidFill>
              <a:srgbClr val="1D6FD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400800" y="4782312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-25%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347472" y="5157216"/>
            <a:ext cx="83667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Qualitative feedback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8288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page summarises key themes from the qualitative feedback your respondents provided.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8288" y="1097280"/>
            <a:ext cx="5897880" cy="4983480"/>
          </a:xfrm>
          <a:prstGeom prst="roundRect">
            <a:avLst>
              <a:gd name="adj" fmla="val 1468"/>
            </a:avLst>
          </a:prstGeom>
          <a:solidFill>
            <a:srgbClr val="E7E7ED"/>
          </a:solidFill>
          <a:ln w="12700">
            <a:solidFill>
              <a:srgbClr val="D8D8D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" y="1097280"/>
            <a:ext cx="5897880" cy="548640"/>
          </a:xfrm>
          <a:prstGeom prst="rect">
            <a:avLst/>
          </a:prstGeom>
          <a:solidFill>
            <a:srgbClr val="1976E8"/>
          </a:solidFill>
          <a:ln w="12700">
            <a:solidFill>
              <a:srgbClr val="1E73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243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areas of strength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1051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perceived as operating across boundaries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credibility - colleagues describe this as your most distinctive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Seen as bringing the right stakeholders in early, which is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felt to reduce rework and accelerate decisions.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657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as trusted across functions, including on difficult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Experienced as setting direction with clarity - colleagues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 they leave meetings clear on what was agreed and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what.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5303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Described as thinking at the system level, not only within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own area.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16752" y="1097280"/>
            <a:ext cx="6126480" cy="4983480"/>
          </a:xfrm>
          <a:prstGeom prst="roundRect">
            <a:avLst>
              <a:gd name="adj" fmla="val 1468"/>
            </a:avLst>
          </a:prstGeom>
          <a:solidFill>
            <a:srgbClr val="E7E7ED"/>
          </a:solidFill>
          <a:ln w="12700">
            <a:solidFill>
              <a:srgbClr val="D8D8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2" y="1097280"/>
            <a:ext cx="6126480" cy="548640"/>
          </a:xfrm>
          <a:prstGeom prst="rect">
            <a:avLst/>
          </a:prstGeom>
          <a:solidFill>
            <a:srgbClr val="1976E8"/>
          </a:solidFill>
          <a:ln w="12700">
            <a:solidFill>
              <a:srgbClr val="1E73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2435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Perceived areas of improvement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81051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support is perceived as genuine but reactive.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of others appears to be the clearest opportunity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improvement.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834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is felt to follow a request rather than being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offered proactively.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3657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Recognised potential is not always seen as translated into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stretch or development plan.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44805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Priorities are perceived as set clearly, but follow-through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standards is reported as less visible.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53035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Low-value work is seen as continuing past its useful life.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360 Feedback</dc:subject>
  <dc:creator>ChatGPT</dc:creator>
  <cp:lastModifiedBy>ChatGPT</cp:lastModifiedBy>
  <cp:revision>1</cp:revision>
  <dcterms:created xsi:type="dcterms:W3CDTF">2026-05-25T10:18:10Z</dcterms:created>
  <dcterms:modified xsi:type="dcterms:W3CDTF">2026-05-25T10:18:10Z</dcterms:modified>
</cp:coreProperties>
</file>